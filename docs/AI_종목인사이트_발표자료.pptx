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은행 앱 참여형 금융 서비스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종목 인사이트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리포트 · 방향성 예측 · 랭킹으로 만드는 참여형 금융 콘텐츠 — 개발 진행 보고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54335" y="731520"/>
            <a:ext cx="1188720" cy="1188720"/>
          </a:xfrm>
          <a:prstGeom prst="ellipse">
            <a:avLst/>
          </a:prstGeom>
          <a:solidFill>
            <a:srgbClr val="1B4D38"/>
          </a:solidFill>
          <a:ln/>
        </p:spPr>
      </p:sp>
      <p:pic>
        <p:nvPicPr>
          <p:cNvPr id="6" name="Image 0" descr="C:\Users\김상윤\AppData\Local\Temp\claude\C--Users-----OneDrive-Desktop-ABC\2d7d095f-1100-4358-9c3e-418ba127896f\scratchpad\deck\icons\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402" y="1040587"/>
            <a:ext cx="570586" cy="570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은행 앱, 오래 머물 이유가 없다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4999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3042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낮은 체류시간 · DAU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7249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계좌조회, 이체 등 '용건'만 보고 바로 나가는 구조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9" name="Image 1" descr="C:\Users\김상윤\AppData\Local\Temp\claude\C--Users-----OneDrive-Desktop-ABC\2d7d095f-1100-4358-9c3e-418ba127896f\scratchpad\deck\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387157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6758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참여형 콘텐츠 부재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40965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들어올 이유가 될 만한 볼거리·즐길거리가 없음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종목 리포트 + 방향성 예측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참여형 서비스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F2F8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01752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뉴스를 AI가 읽고 요약해 보여주고,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다음 거래일 주가 방향을 맞혀보는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참여형 금융 콘텐츠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503920" y="3108960"/>
            <a:ext cx="2011680" cy="201168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7" name="Image 0" descr="C:\Users\김상윤\AppData\Local\Temp\claude\C--Users-----OneDrive-Desktop-ABC\2d7d095f-1100-4358-9c3e-418ba127896f\scratchpad\deck\icons\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57" y="3631997"/>
            <a:ext cx="965606" cy="965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투자 자문이 아닌,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'비투자성 참여 콘텐츠'로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005840" cy="100584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29132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2514600"/>
            <a:ext cx="9326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투자 자문을 제공하면 투자자문업 등록 등 금융 규제 대상이 됨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방향성 맞히기 '게임' 형태로 설계해 규제는 피하고 재미는 유지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적중 시 올원캔디 등 경미한 리워드로 게임화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체류시간에서 상품 유입까지, 3단계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0888" y="22860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2F8F4"/>
          </a:solidFill>
          <a:ln/>
        </p:spPr>
      </p:sp>
      <p:sp>
        <p:nvSpPr>
          <p:cNvPr id="5" name="Shape 3"/>
          <p:cNvSpPr/>
          <p:nvPr/>
        </p:nvSpPr>
        <p:spPr>
          <a:xfrm>
            <a:off x="1843888" y="2606040"/>
            <a:ext cx="1005840" cy="100584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6" name="Image 0" descr="C:\Users\김상윤\AppData\Local\Temp\claude\C--Users-----OneDrive-Desktop-ABC\2d7d095f-1100-4358-9c3e-418ba127896f\scratchpad\deck\icons\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406" y="28675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3768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체류시간 증가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83768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리포트로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볼거리 제공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992728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449928" y="22860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2F8F4"/>
          </a:solidFill>
          <a:ln/>
        </p:spPr>
      </p:sp>
      <p:sp>
        <p:nvSpPr>
          <p:cNvPr id="11" name="Shape 8"/>
          <p:cNvSpPr/>
          <p:nvPr/>
        </p:nvSpPr>
        <p:spPr>
          <a:xfrm>
            <a:off x="5592928" y="2606040"/>
            <a:ext cx="1005840" cy="100584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12" name="Image 1" descr="C:\Users\김상윤\AppData\Local\Temp\claude\C--Users-----OneDrive-Desktop-ABC\2d7d095f-1100-4358-9c3e-418ba127896f\scratchpad\deck\icons\fl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286755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2808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습관 · 경쟁 형성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32808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스트릭 + 랭킹으로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유도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41768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198968" y="22860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2F8F4"/>
          </a:solidFill>
          <a:ln/>
        </p:spPr>
      </p:sp>
      <p:sp>
        <p:nvSpPr>
          <p:cNvPr id="17" name="Shape 13"/>
          <p:cNvSpPr/>
          <p:nvPr/>
        </p:nvSpPr>
        <p:spPr>
          <a:xfrm>
            <a:off x="9341968" y="2606040"/>
            <a:ext cx="1005840" cy="100584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18" name="Image 2" descr="C:\Users\김상윤\AppData\Local\Temp\claude\C--Users-----OneDrive-Desktop-ABC\2d7d095f-1100-4358-9c3e-418ba127896f\scratchpad\deck\icons\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86" y="286755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1848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금융상품 유입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81848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상품으로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자연스럽게 연결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스프린트에서 구현한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4896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5" name="Shape 3"/>
          <p:cNvSpPr/>
          <p:nvPr/>
        </p:nvSpPr>
        <p:spPr>
          <a:xfrm>
            <a:off x="1679296" y="254203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6" name="Image 0" descr="C:\Users\김상윤\AppData\Local\Temp\claude\C--Users-----OneDrive-Desktop-ABC\2d7d095f-1100-4358-9c3e-418ba127896f\scratchpad\deck\icons\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604" y="27203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6336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리포트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80664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9" name="Shape 6"/>
          <p:cNvSpPr/>
          <p:nvPr/>
        </p:nvSpPr>
        <p:spPr>
          <a:xfrm>
            <a:off x="4395064" y="254203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10" name="Image 1" descr="C:\Users\김상윤\AppData\Local\Temp\claude\C--Users-----OneDrive-Desktop-ABC\2d7d095f-1100-4358-9c3e-418ba127896f\scratchpad\deck\icons\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72" y="272034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72104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챗봇 Q&amp;A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6432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13" name="Shape 9"/>
          <p:cNvSpPr/>
          <p:nvPr/>
        </p:nvSpPr>
        <p:spPr>
          <a:xfrm>
            <a:off x="7110832" y="254203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14" name="Image 2" descr="C:\Users\김상윤\AppData\Local\Temp\claude\C--Users-----OneDrive-Desktop-ABC\2d7d095f-1100-4358-9c3e-418ba127896f\scratchpad\deck\icons\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40" y="272034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87872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영향요인 분석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1220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17" name="Shape 12"/>
          <p:cNvSpPr/>
          <p:nvPr/>
        </p:nvSpPr>
        <p:spPr>
          <a:xfrm>
            <a:off x="9826600" y="254203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18" name="Image 3" descr="C:\Users\김상윤\AppData\Local\Temp\claude\C--Users-----OneDrive-Desktop-ABC\2d7d095f-1100-4358-9c3e-418ba127896f\scratchpad\deck\icons\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908" y="272034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03640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방향성 예측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64896" y="4297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21" name="Shape 15"/>
          <p:cNvSpPr/>
          <p:nvPr/>
        </p:nvSpPr>
        <p:spPr>
          <a:xfrm>
            <a:off x="1679296" y="455371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22" name="Image 4" descr="C:\Users\김상윤\AppData\Local\Temp\claude\C--Users-----OneDrive-Desktop-ABC\2d7d095f-1100-4358-9c3e-418ba127896f\scratchpad\deck\icons\fla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604" y="473202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6336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참여 스트릭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80664" y="4297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25" name="Shape 18"/>
          <p:cNvSpPr/>
          <p:nvPr/>
        </p:nvSpPr>
        <p:spPr>
          <a:xfrm>
            <a:off x="4395064" y="455371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26" name="Image 5" descr="C:\Users\김상윤\AppData\Local\Temp\claude\C--Users-----OneDrive-Desktop-ABC\2d7d095f-1100-4358-9c3e-418ba127896f\scratchpad\deck\icons\troph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372" y="473202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572104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랭킹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196432" y="4297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29" name="Shape 21"/>
          <p:cNvSpPr/>
          <p:nvPr/>
        </p:nvSpPr>
        <p:spPr>
          <a:xfrm>
            <a:off x="7110832" y="455371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30" name="Image 6" descr="C:\Users\김상윤\AppData\Local\Temp\claude\C--Users-----OneDrive-Desktop-ABC\2d7d095f-1100-4358-9c3e-418ba127896f\scratchpad\deck\icons\land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9140" y="4732020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287872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상품 연결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12200" y="42976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8F4"/>
          </a:solidFill>
          <a:ln/>
        </p:spPr>
      </p:sp>
      <p:sp>
        <p:nvSpPr>
          <p:cNvPr id="33" name="Shape 24"/>
          <p:cNvSpPr/>
          <p:nvPr/>
        </p:nvSpPr>
        <p:spPr>
          <a:xfrm>
            <a:off x="9826600" y="4553712"/>
            <a:ext cx="685800" cy="6858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34" name="Image 7" descr="C:\Users\김상윤\AppData\Local\Temp\claude\C--Users-----OneDrive-Desktop-ABC\2d7d095f-1100-4358-9c3e-418ba127896f\scratchpad\deck\icons\palet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4908" y="4732020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003640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개선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뉴스 기반 AI 리포트 &amp; 챗봇 Q&amp;A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728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4688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금융 실시간 뉴스 · 시세 연동, Claude가 요약과 투자 포인트를 생성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내용에 대해 자유롭게 질문 가능한 챗봇 (투자자문 응답 가드레일 적용)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종목 재조회 시 캐시로 즉시 응답 (최초 대비 100배 이상 빠름)</a:t>
            </a:r>
            <a:endParaRPr lang="en-US" sz="1500" dirty="0"/>
          </a:p>
        </p:txBody>
      </p:sp>
      <p:pic>
        <p:nvPicPr>
          <p:cNvPr id="7" name="Image 1" descr="C:\Users\김상윤\AppData\Local\Temp\claude\C--Users-----OneDrive-Desktop-ABC\2d7d095f-1100-4358-9c3e-418ba127896f\scratchpad\deck\shots\03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549" y="1097280"/>
            <a:ext cx="2111453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91549" y="1097280"/>
            <a:ext cx="2111453" cy="45720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pic>
        <p:nvPicPr>
          <p:cNvPr id="9" name="Image 2" descr="C:\Users\김상윤\AppData\Local\Temp\claude\C--Users-----OneDrive-Desktop-ABC\2d7d095f-1100-4358-9c3e-418ba127896f\scratchpad\deck\shots\04_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602" y="1097280"/>
            <a:ext cx="2111453" cy="4572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31602" y="1097280"/>
            <a:ext cx="2111453" cy="45720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 없는 수치 대신,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기반 설명으로 재설계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728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4688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가중치·막대그래프 제거 — 뉴스에 없는 내용은 지어내지 않음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등락률과 뉴스 근거가 어긋나면 '근거 불일치' 안내를 정직하게 노출</a:t>
            </a:r>
            <a:endParaRPr lang="en-US" sz="1500" dirty="0"/>
          </a:p>
        </p:txBody>
      </p:sp>
      <p:pic>
        <p:nvPicPr>
          <p:cNvPr id="7" name="Image 1" descr="C:\Users\김상윤\AppData\Local\Temp\claude\C--Users-----OneDrive-Desktop-ABC\2d7d095f-1100-4358-9c3e-418ba127896f\scratchpad\deck\shots\05_fact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57" y="1097280"/>
            <a:ext cx="2322599" cy="5029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320457" y="1097280"/>
            <a:ext cx="2322599" cy="50292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거래일 종가 기준,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자동으로 공정하게 판정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728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4688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제출 시점 가격을 기준가로 고정, 즉시 결과 확인은 서버에서 차단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주기 스케줄러가 다음 거래일 종가로 자동 판정 후 리워드 지급</a:t>
            </a:r>
            <a:endParaRPr lang="en-US" sz="1500" dirty="0"/>
          </a:p>
        </p:txBody>
      </p:sp>
      <p:pic>
        <p:nvPicPr>
          <p:cNvPr id="7" name="Image 1" descr="C:\Users\김상윤\AppData\Local\Temp\claude\C--Users-----OneDrive-Desktop-ABC\2d7d095f-1100-4358-9c3e-418ba127896f\scratchpad\deck\shots\06_pre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549" y="1097280"/>
            <a:ext cx="2111453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91549" y="1097280"/>
            <a:ext cx="2111453" cy="45720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pic>
        <p:nvPicPr>
          <p:cNvPr id="9" name="Image 2" descr="C:\Users\김상윤\AppData\Local\Temp\claude\C--Users-----OneDrive-Desktop-ABC\2d7d095f-1100-4358-9c3e-418ba127896f\scratchpad\deck\shots\08_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602" y="1097280"/>
            <a:ext cx="2111453" cy="4572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31602" y="1097280"/>
            <a:ext cx="2111453" cy="45720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습관은 스트릭으로,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경쟁은 랭킹으로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5456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3317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연속 참여 스트릭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834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 연속 참여 시 보너스 캔디 지급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사용자별로 완전히 독립 집계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9" name="Image 1" descr="C:\Users\김상윤\AppData\Local\Temp\claude\C--Users-----OneDrive-Desktop-ABC\2d7d095f-1100-4358-9c3e-418ba127896f\scratchpad\deck\icons\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437449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4160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예측 랭킹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46634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· 월간 적중 횟수 기준 순위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참여자에게 실시간 공유</a:t>
            </a:r>
            <a:endParaRPr lang="en-US" sz="1400" dirty="0"/>
          </a:p>
        </p:txBody>
      </p:sp>
      <p:pic>
        <p:nvPicPr>
          <p:cNvPr id="12" name="Image 2" descr="C:\Users\김상윤\AppData\Local\Temp\claude\C--Users-----OneDrive-Desktop-ABC\2d7d095f-1100-4358-9c3e-418ba127896f\scratchpad\deck\shots\01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549" y="1097280"/>
            <a:ext cx="2111453" cy="4572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91549" y="1097280"/>
            <a:ext cx="2111453" cy="45720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pic>
        <p:nvPicPr>
          <p:cNvPr id="14" name="Image 3" descr="C:\Users\김상윤\AppData\Local\Temp\claude\C--Users-----OneDrive-Desktop-ABC\2d7d095f-1100-4358-9c3e-418ba127896f\scratchpad\deck\shots\09_ran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602" y="1097280"/>
            <a:ext cx="2111453" cy="45720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531602" y="1097280"/>
            <a:ext cx="2111453" cy="45720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예측 결과 → NH 상품 안내로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자연스럽게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822960" cy="82296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lan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728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4688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결과와 직접 연결하지 않는 '일반 안내' 원칙 — 투자 권유로 읽히지 않도록 설계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NH 앱 연동 전까지는 농협은행 공식 웹사이트로 폴백 처리</a:t>
            </a:r>
            <a:endParaRPr lang="en-US" sz="1500" dirty="0"/>
          </a:p>
        </p:txBody>
      </p:sp>
      <p:pic>
        <p:nvPicPr>
          <p:cNvPr id="7" name="Image 1" descr="C:\Users\김상윤\AppData\Local\Temp\claude\C--Users-----OneDrive-Desktop-ABC\2d7d095f-1100-4358-9c3e-418ba127896f\scratchpad\deck\shots\07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57" y="1097280"/>
            <a:ext cx="2322599" cy="5029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320457" y="1097280"/>
            <a:ext cx="2322599" cy="5029200"/>
          </a:xfrm>
          <a:prstGeom prst="rect">
            <a:avLst/>
          </a:prstGeom>
          <a:ln w="12700">
            <a:solidFill>
              <a:srgbClr val="C9D6C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느렸던 AI 응답, 구조적으로 개선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4206240" cy="3017520"/>
          </a:xfrm>
          <a:prstGeom prst="roundRect">
            <a:avLst>
              <a:gd name="adj" fmla="val 3636"/>
            </a:avLst>
          </a:prstGeom>
          <a:solidFill>
            <a:srgbClr val="1038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63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8.8초 → 0.08초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조회 대비 캐시 응답 속도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37744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단위 캐싱 + 동시요청 중복 제거 (같은 종목이면 누가 보든 재사용)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리포트를 읽는 동안 다음 화면(영향요인 분석)을 백그라운드에서 미리 준비 (프리페치)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로딩 중에도 'AI가 분석 중이에요' 안내로 대기 이유를 명확히 전달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다음에 풀어야 할 것들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71455" y="685800"/>
            <a:ext cx="1371600" cy="1371600"/>
          </a:xfrm>
          <a:prstGeom prst="ellipse">
            <a:avLst/>
          </a:prstGeom>
          <a:solidFill>
            <a:srgbClr val="00A650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071" y="10424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68880"/>
            <a:ext cx="9875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사용자 로그인 연동 (현재는 브라우저 임시 게스트 식별자로 대체 중)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랭킹 마감 시 순위 확정 + 리워드 자동 정산 (Phase 3)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응답 스트리밍 적용 검토, 실제 NH 네이티브 브릿지 연동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종목 인사이트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0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54335" y="731520"/>
            <a:ext cx="1188720" cy="1188720"/>
          </a:xfrm>
          <a:prstGeom prst="ellipse">
            <a:avLst/>
          </a:prstGeom>
          <a:solidFill>
            <a:srgbClr val="1B4D38"/>
          </a:solidFill>
          <a:ln/>
        </p:spPr>
      </p:sp>
      <p:pic>
        <p:nvPicPr>
          <p:cNvPr id="5" name="Image 0" descr="C:\Users\김상윤\AppData\Local\Temp\claude\C--Users-----OneDrive-Desktop-ABC\2d7d095f-1100-4358-9c3e-418ba127896f\scratchpad\deck\icons\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402" y="1040587"/>
            <a:ext cx="570586" cy="570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2026-09-27T01:51:06Z</dcterms:created>
  <dcterms:modified xsi:type="dcterms:W3CDTF">2026-09-27T01:51:06Z</dcterms:modified>
</cp:coreProperties>
</file>